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1091672" cy="18288"/>
          </a:xfrm>
          <a:prstGeom prst="rect">
            <a:avLst/>
          </a:prstGeom>
          <a:solidFill>
            <a:srgbClr val="1F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9502C"/>
                </a:solidFill>
                <a:latin typeface="Arial"/>
              </a:rPr>
              <a:t>ПРАКТИЧЕСКОЕ РУКОВОДСТВО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621792"/>
            <a:ext cx="55138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E554B"/>
                </a:solidFill>
                <a:latin typeface="Arial"/>
              </a:rPr>
              <a:t>выпуск для экспертов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1280160"/>
            <a:ext cx="18288" cy="4754880"/>
          </a:xfrm>
          <a:prstGeom prst="rect">
            <a:avLst/>
          </a:prstGeom>
          <a:solidFill>
            <a:srgbClr val="9A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0" y="1097280"/>
            <a:ext cx="3593592" cy="402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0000"/>
              </a:lnSpc>
            </a:pPr>
            <a:r>
              <a:rPr sz="19000" b="1">
                <a:solidFill>
                  <a:srgbClr val="B9502C"/>
                </a:solidFill>
                <a:latin typeface="Georgia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6949440" cy="32461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1F1B17"/>
                </a:solidFill>
                <a:latin typeface="Georgia"/>
              </a:rPr>
              <a:t>Личный бренд эксперта за 30 дней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E554B"/>
                </a:solidFill>
                <a:latin typeface="Arial"/>
              </a:rPr>
              <a:t>План по неделям: от понятного профиля до первых заявок. Без бюджета на рекламу и без ежедневных рилсов.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96128"/>
            <a:ext cx="6949440" cy="13716"/>
          </a:xfrm>
          <a:prstGeom prst="rect">
            <a:avLst/>
          </a:prstGeom>
          <a:solidFill>
            <a:srgbClr val="9A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571500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1B17"/>
                </a:solidFill>
                <a:latin typeface="Arial"/>
              </a:rPr>
              <a:t>4 недели · 1 час в день · 12–16 публикаций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E554B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95528"/>
            <a:ext cx="822960" cy="18288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9502C"/>
                </a:solidFill>
                <a:latin typeface="Arial"/>
              </a:rPr>
              <a:t>СУТЬ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F1B17"/>
                </a:solidFill>
                <a:latin typeface="Georgia"/>
              </a:rPr>
              <a:t>Личный бренд — это ответ</a:t>
            </a:r>
          </a:p>
          <a:p>
            <a:pPr algn="l">
              <a:lnSpc>
                <a:spcPct val="100000"/>
              </a:lnSpc>
            </a:pPr>
            <a:r>
              <a:rPr sz="3600" b="1">
                <a:solidFill>
                  <a:srgbClr val="1F1B17"/>
                </a:solidFill>
                <a:latin typeface="Georgia"/>
              </a:rPr>
              <a:t>на три вопроса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3514344" cy="292608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45720" cy="2926080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2926079"/>
            <a:ext cx="29657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B17"/>
                </a:solidFill>
                <a:latin typeface="Georgia"/>
              </a:rPr>
              <a:t>Кто вы?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03320"/>
            <a:ext cx="2965704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E554B"/>
                </a:solidFill>
                <a:latin typeface="Arial"/>
              </a:rPr>
              <a:t>Одна понятная роль. Не «коуч, маркетолог и немного дизайнер», а одно направление.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7304" y="2651760"/>
            <a:ext cx="3514344" cy="292608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37304" y="2651760"/>
            <a:ext cx="45720" cy="2926080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11624" y="2926079"/>
            <a:ext cx="29657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B17"/>
                </a:solidFill>
                <a:latin typeface="Georgia"/>
              </a:rPr>
              <a:t>Чем полезны?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3703320"/>
            <a:ext cx="2965704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E554B"/>
                </a:solidFill>
                <a:latin typeface="Arial"/>
              </a:rPr>
              <a:t>Какую проблему решаете и для кого. Человек должен узнать в этом себя.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5968" y="2651760"/>
            <a:ext cx="3514344" cy="292608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25968" y="2651760"/>
            <a:ext cx="45720" cy="2926080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00288" y="2926079"/>
            <a:ext cx="29657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B17"/>
                </a:solidFill>
                <a:latin typeface="Georgia"/>
              </a:rPr>
              <a:t>Как к вам попасть?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0288" y="3703320"/>
            <a:ext cx="2965704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E554B"/>
                </a:solidFill>
                <a:latin typeface="Arial"/>
              </a:rPr>
              <a:t>Понятный следующий шаг: консультация, продукт, запись, ссылка.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E554B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A8E7E"/>
                </a:solidFill>
                <a:latin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95528"/>
            <a:ext cx="822960" cy="18288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9502C"/>
                </a:solidFill>
                <a:latin typeface="Arial"/>
              </a:rPr>
              <a:t>ПОДГОТОВКА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F1B17"/>
                </a:solidFill>
                <a:latin typeface="Georgia"/>
              </a:rPr>
              <a:t>День 0: позиционирование</a:t>
            </a:r>
          </a:p>
          <a:p>
            <a:pPr algn="l">
              <a:lnSpc>
                <a:spcPct val="100000"/>
              </a:lnSpc>
            </a:pPr>
            <a:r>
              <a:rPr sz="3600" b="1">
                <a:solidFill>
                  <a:srgbClr val="1F1B17"/>
                </a:solidFill>
                <a:latin typeface="Georgia"/>
              </a:rPr>
              <a:t>в одну строку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11091672" cy="132588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73152" cy="1325880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515600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1B17"/>
                </a:solidFill>
                <a:latin typeface="Georgia"/>
              </a:rPr>
              <a:t>Я помогаю </a:t>
            </a:r>
            <a:r>
              <a:rPr sz="2400" b="1">
                <a:solidFill>
                  <a:srgbClr val="B9502C"/>
                </a:solidFill>
                <a:latin typeface="Georgia"/>
              </a:rPr>
              <a:t>[кому]</a:t>
            </a:r>
            <a:r>
              <a:rPr sz="2400" b="1">
                <a:solidFill>
                  <a:srgbClr val="1F1B17"/>
                </a:solidFill>
                <a:latin typeface="Georgia"/>
              </a:rPr>
              <a:t> получить </a:t>
            </a:r>
            <a:r>
              <a:rPr sz="2400" b="1">
                <a:solidFill>
                  <a:srgbClr val="B9502C"/>
                </a:solidFill>
                <a:latin typeface="Georgia"/>
              </a:rPr>
              <a:t>[результат]</a:t>
            </a:r>
            <a:r>
              <a:rPr sz="2400" b="1">
                <a:solidFill>
                  <a:srgbClr val="1F1B17"/>
                </a:solidFill>
                <a:latin typeface="Georgia"/>
              </a:rPr>
              <a:t> через </a:t>
            </a:r>
            <a:r>
              <a:rPr sz="2400" b="1">
                <a:solidFill>
                  <a:srgbClr val="B9502C"/>
                </a:solidFill>
                <a:latin typeface="Georgia"/>
              </a:rPr>
              <a:t>[ваш метод]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1B17"/>
                </a:solidFill>
                <a:latin typeface="Arial"/>
              </a:rPr>
              <a:t>Пример: </a:t>
            </a:r>
            <a:r>
              <a:rPr sz="1600" b="0">
                <a:solidFill>
                  <a:srgbClr val="5E554B"/>
                </a:solidFill>
                <a:latin typeface="Arial"/>
              </a:rPr>
              <a:t>«Я помогаю владельцам маленьких кофеен получать постоянных гостей через простые акции и ведение соцсетей своими силами».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92040"/>
            <a:ext cx="3566160" cy="18288"/>
          </a:xfrm>
          <a:prstGeom prst="rect">
            <a:avLst/>
          </a:prstGeom>
          <a:solidFill>
            <a:srgbClr val="1F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Конкретная аудитория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554B"/>
                </a:solidFill>
                <a:latin typeface="Arial"/>
              </a:rPr>
              <a:t>не «все предприниматели»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4" y="4892040"/>
            <a:ext cx="3566160" cy="18288"/>
          </a:xfrm>
          <a:prstGeom prst="rect">
            <a:avLst/>
          </a:prstGeom>
          <a:solidFill>
            <a:srgbClr val="1F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06824" y="50292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Понятный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548640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554B"/>
                </a:solidFill>
                <a:latin typeface="Arial"/>
              </a:rPr>
              <a:t>что изменится у клиента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4892040"/>
            <a:ext cx="3566160" cy="18288"/>
          </a:xfrm>
          <a:prstGeom prst="rect">
            <a:avLst/>
          </a:prstGeom>
          <a:solidFill>
            <a:srgbClr val="1F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65008" y="50292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Ваш способ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548640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554B"/>
                </a:solidFill>
                <a:latin typeface="Arial"/>
              </a:rPr>
              <a:t>чем подход отличается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E554B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A8E7E"/>
                </a:solidFill>
                <a:latin typeface="Georgi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91840" y="0"/>
            <a:ext cx="18288" cy="6858000"/>
          </a:xfrm>
          <a:prstGeom prst="rect">
            <a:avLst/>
          </a:prstGeom>
          <a:solidFill>
            <a:srgbClr val="9A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1B17"/>
                </a:solidFill>
                <a:latin typeface="Georgia"/>
              </a:rPr>
              <a:t>НЕДЕЛЯ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B9502C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1B17"/>
                </a:solidFill>
                <a:latin typeface="Arial"/>
              </a:rPr>
              <a:t>дни 1–7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1B17"/>
                </a:solidFill>
                <a:latin typeface="Georgia"/>
              </a:rPr>
              <a:t>Цель недели
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F1B17"/>
                </a:solidFill>
                <a:latin typeface="Arial"/>
              </a:rPr>
              <a:t>Человек заходит и сразу понимает, кто вы и что делать дальше.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54864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F1B17"/>
                </a:solidFill>
                <a:latin typeface="Georgia"/>
              </a:rPr>
              <a:t>Фундамент: профиль, понятный за 5 секунд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874519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069080" y="1874519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Дни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00253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Фото и аватар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377439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Лицо крупно, нейтральный фон, без групповых снимков.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971800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069080" y="2971800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Дни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09981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Шапка профиля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474720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Позиционирование из дня 0 и одна ссылка на запись или продукт.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4069080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069080" y="4069080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Дни 5–6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419709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Три закрепа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572000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Кто я и почему мне можно доверять, разбор кейса, как со мной работать.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5166360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069080" y="5166360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День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529437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Проверка на людях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669280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Покажите профиль трём знакомым: пусть своими словами скажут, чем вы заняты.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E554B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A8E7E"/>
                </a:solidFill>
                <a:latin typeface="Georgi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91840" y="0"/>
            <a:ext cx="18288" cy="6858000"/>
          </a:xfrm>
          <a:prstGeom prst="rect">
            <a:avLst/>
          </a:prstGeom>
          <a:solidFill>
            <a:srgbClr val="9A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1B17"/>
                </a:solidFill>
                <a:latin typeface="Georgia"/>
              </a:rPr>
              <a:t>НЕДЕЛЯ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B9502C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1B17"/>
                </a:solidFill>
                <a:latin typeface="Arial"/>
              </a:rPr>
              <a:t>дни 8–14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1B17"/>
                </a:solidFill>
                <a:latin typeface="Georgia"/>
              </a:rPr>
              <a:t>Цель недели
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F1B17"/>
                </a:solidFill>
                <a:latin typeface="Arial"/>
              </a:rPr>
              <a:t>Четыре поста, после которых вас хочется сохранить.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54864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F1B17"/>
                </a:solidFill>
                <a:latin typeface="Georgia"/>
              </a:rPr>
              <a:t>Экспертность: покажите, что разбираетесь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874519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069080" y="1874519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Пост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00253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Частая ошибка клиентов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377439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Что делают не так, к чему это приводит и как правильно.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971800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069080" y="2971800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Пост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09981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Чек-лист или инструкция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474720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Короткий пошаговый материал, который хочется сохранить.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4069080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069080" y="4069080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Пост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419709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Кейс «было — стало»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572000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Реальная история клиента с его разрешения, без приукрашивания.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5166360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069080" y="5166360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Пост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529437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Мнение о тренде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669280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Спокойная позиция по спорной теме вашей ниши.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E554B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A8E7E"/>
                </a:solidFill>
                <a:latin typeface="Georgia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91840" y="0"/>
            <a:ext cx="18288" cy="6858000"/>
          </a:xfrm>
          <a:prstGeom prst="rect">
            <a:avLst/>
          </a:prstGeom>
          <a:solidFill>
            <a:srgbClr val="9A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1B17"/>
                </a:solidFill>
                <a:latin typeface="Georgia"/>
              </a:rPr>
              <a:t>НЕДЕЛЯ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B9502C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1B17"/>
                </a:solidFill>
                <a:latin typeface="Arial"/>
              </a:rPr>
              <a:t>дни 15–21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1B17"/>
                </a:solidFill>
                <a:latin typeface="Georgia"/>
              </a:rPr>
              <a:t>Цель недели
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F1B17"/>
                </a:solidFill>
                <a:latin typeface="Arial"/>
              </a:rPr>
              <a:t>Подписчики понимают, почему именно вы и как вы работаете.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54864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F1B17"/>
                </a:solidFill>
                <a:latin typeface="Georgia"/>
              </a:rPr>
              <a:t>Доверие: пусть узнают вас как человека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874519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069080" y="1874519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Пост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00253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История о себе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377439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Почему вы пришли в профессию и что для вас в ней важно.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971800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069080" y="2971800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Сторис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09981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Закулисье рабочего дня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474720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Как готовитесь к работе, инструменты, процесс без глянца.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4069080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069080" y="4069080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Пост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419709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Ответы на вопросы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572000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Соберите вопросы в сторис и разберите самые частые.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5166360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069080" y="5166360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Эфир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529437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15 минут вживую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669280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Короткий эфир или голосовое с разбором одной темы.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E554B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A8E7E"/>
                </a:solidFill>
                <a:latin typeface="Georgi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91840" y="0"/>
            <a:ext cx="18288" cy="6858000"/>
          </a:xfrm>
          <a:prstGeom prst="rect">
            <a:avLst/>
          </a:prstGeom>
          <a:solidFill>
            <a:srgbClr val="9A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1B17"/>
                </a:solidFill>
                <a:latin typeface="Georgia"/>
              </a:rPr>
              <a:t>НЕДЕЛЯ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B9502C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1B17"/>
                </a:solidFill>
                <a:latin typeface="Arial"/>
              </a:rPr>
              <a:t>дни 22–30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1B17"/>
                </a:solidFill>
                <a:latin typeface="Georgia"/>
              </a:rPr>
              <a:t>Цель недели
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F1B17"/>
                </a:solidFill>
                <a:latin typeface="Arial"/>
              </a:rPr>
              <a:t>Первые заявки от тех, кто уже познакомился с вами.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54864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F1B17"/>
                </a:solidFill>
                <a:latin typeface="Georgia"/>
              </a:rPr>
              <a:t>Продажа: первое предложение и заявки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874519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069080" y="1874519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Дни 22–23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00253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Оффер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377439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Что именно, для кого, какой результат, цена и срок.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971800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069080" y="2971800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Дни 24–26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09981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Три прогревающих поста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474720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Проблема клиента → как вы её решаете → результат.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4069080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069080" y="4069080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Дни 27–28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419709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Пост-предложение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572000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Условия, честное количество мест и понятная кнопка.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5166360"/>
            <a:ext cx="7799831" cy="987552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069080" y="5166360"/>
            <a:ext cx="1325880" cy="9875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502C"/>
                </a:solidFill>
                <a:latin typeface="Arial"/>
              </a:rPr>
              <a:t>Дни 29–30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529437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B17"/>
                </a:solidFill>
                <a:latin typeface="Georgia"/>
              </a:rPr>
              <a:t>Личные сообщения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669280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554B"/>
                </a:solidFill>
                <a:latin typeface="Arial"/>
              </a:rPr>
              <a:t>Напишите тем, кто реагировал и задавал вопросы.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E554B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A8E7E"/>
                </a:solidFill>
                <a:latin typeface="Georgi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95528"/>
            <a:ext cx="822960" cy="18288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9502C"/>
                </a:solidFill>
                <a:latin typeface="Arial"/>
              </a:rPr>
              <a:t>РЕГУЛЯРНОСТЬ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F1B17"/>
                </a:solidFill>
                <a:latin typeface="Georgia"/>
              </a:rPr>
              <a:t>Ритм недели: четыре публикации</a:t>
            </a:r>
          </a:p>
          <a:p>
            <a:pPr algn="l">
              <a:lnSpc>
                <a:spcPct val="100000"/>
              </a:lnSpc>
            </a:pPr>
            <a:r>
              <a:rPr sz="3600" b="1">
                <a:solidFill>
                  <a:srgbClr val="1F1B17"/>
                </a:solidFill>
                <a:latin typeface="Georgia"/>
              </a:rPr>
              <a:t>и один выходной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1466958" cy="3566160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11926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Georgia"/>
              </a:rPr>
              <a:t>ПН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Georgia"/>
              </a:rPr>
              <a:t>Пост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1192638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Польза: ошибка, инструкция, чек-лист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2758" y="2377440"/>
            <a:ext cx="1466958" cy="356616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289918" y="2560320"/>
            <a:ext cx="11926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B9502C"/>
                </a:solidFill>
                <a:latin typeface="Georgia"/>
              </a:rPr>
              <a:t>ВТ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9918" y="3200400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1B17"/>
                </a:solidFill>
                <a:latin typeface="Georgia"/>
              </a:rPr>
              <a:t>Сторис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9918" y="3657600"/>
            <a:ext cx="1192638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554B"/>
                </a:solidFill>
                <a:latin typeface="Arial"/>
              </a:rPr>
              <a:t>Закулисье работы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6877" y="2377440"/>
            <a:ext cx="1466958" cy="3566160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94037" y="2560320"/>
            <a:ext cx="11926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Georgia"/>
              </a:rPr>
              <a:t>СР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4037" y="3200400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Georgia"/>
              </a:rPr>
              <a:t>Пост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4037" y="3657600"/>
            <a:ext cx="1192638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Кейс или разбор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60996" y="2377440"/>
            <a:ext cx="1466958" cy="356616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98156" y="2560320"/>
            <a:ext cx="11926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B9502C"/>
                </a:solidFill>
                <a:latin typeface="Georgia"/>
              </a:rPr>
              <a:t>ЧТ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98156" y="3200400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1B17"/>
                </a:solidFill>
                <a:latin typeface="Georgia"/>
              </a:rPr>
              <a:t>Сторис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8156" y="3657600"/>
            <a:ext cx="1192638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554B"/>
                </a:solidFill>
                <a:latin typeface="Arial"/>
              </a:rPr>
              <a:t>Опрос, вопросы аудитории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65115" y="2377440"/>
            <a:ext cx="1466958" cy="3566160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02275" y="2560320"/>
            <a:ext cx="11926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Georgia"/>
              </a:rPr>
              <a:t>ПТ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2275" y="3200400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Georgia"/>
              </a:rPr>
              <a:t>Пост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2275" y="3657600"/>
            <a:ext cx="1192638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Личное: история, мнение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69234" y="2377440"/>
            <a:ext cx="1466958" cy="356616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706394" y="2560320"/>
            <a:ext cx="11926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B9502C"/>
                </a:solidFill>
                <a:latin typeface="Georgia"/>
              </a:rPr>
              <a:t>СБ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6394" y="3200400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1B17"/>
                </a:solidFill>
                <a:latin typeface="Georgia"/>
              </a:rPr>
              <a:t>Ответы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6394" y="3657600"/>
            <a:ext cx="1192638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554B"/>
                </a:solidFill>
                <a:latin typeface="Arial"/>
              </a:rPr>
              <a:t>Комментарии и личные сообщения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73353" y="2377440"/>
            <a:ext cx="1466958" cy="356616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310513" y="2560320"/>
            <a:ext cx="11926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B9502C"/>
                </a:solidFill>
                <a:latin typeface="Georgia"/>
              </a:rPr>
              <a:t>ВС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0513" y="3200400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1B17"/>
                </a:solidFill>
                <a:latin typeface="Georgia"/>
              </a:rPr>
              <a:t>Отдых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0513" y="3657600"/>
            <a:ext cx="1192638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554B"/>
                </a:solidFill>
                <a:latin typeface="Arial"/>
              </a:rPr>
              <a:t>Планирование следующей недели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E554B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A8E7E"/>
                </a:solidFill>
                <a:latin typeface="Georgia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95528"/>
            <a:ext cx="822960" cy="18288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9502C"/>
                </a:solidFill>
                <a:latin typeface="Arial"/>
              </a:rPr>
              <a:t>ЧТО ИЗМЕРЯТЬ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F1B17"/>
                </a:solidFill>
                <a:latin typeface="Georgia"/>
              </a:rPr>
              <a:t>Считайте не лайки, а действия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6583680" cy="86868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65836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F1B17"/>
                </a:solidFill>
                <a:latin typeface="Georgia"/>
              </a:rPr>
              <a:t>Охват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48840"/>
            <a:ext cx="40690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E554B"/>
                </a:solidFill>
                <a:latin typeface="Arial"/>
              </a:rPr>
              <a:t>Сколько людей увидели. Растёт от регулярности и сторис.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72968"/>
            <a:ext cx="5486400" cy="868680"/>
          </a:xfrm>
          <a:prstGeom prst="rect">
            <a:avLst/>
          </a:prstGeom>
          <a:solidFill>
            <a:srgbClr val="DDD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7280" y="3172968"/>
            <a:ext cx="5486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F1B17"/>
                </a:solidFill>
                <a:latin typeface="Georgia"/>
              </a:rPr>
              <a:t>Сохранения и пересылки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172968"/>
            <a:ext cx="40690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E554B"/>
                </a:solidFill>
                <a:latin typeface="Arial"/>
              </a:rPr>
              <a:t>Главный признак полезного контента.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19" y="4197096"/>
            <a:ext cx="4389120" cy="868680"/>
          </a:xfrm>
          <a:prstGeom prst="rect">
            <a:avLst/>
          </a:prstGeom>
          <a:solidFill>
            <a:srgbClr val="E9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645919" y="4197096"/>
            <a:ext cx="43891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F1B17"/>
                </a:solidFill>
                <a:latin typeface="Georgia"/>
              </a:rPr>
              <a:t>Сообщения в личку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197096"/>
            <a:ext cx="40690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E554B"/>
                </a:solidFill>
                <a:latin typeface="Arial"/>
              </a:rPr>
              <a:t>Люди задают вопросы — значит, доверяют.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5221224"/>
            <a:ext cx="3291840" cy="868680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194560" y="5221224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Georgia"/>
              </a:rPr>
              <a:t>Заявки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221224"/>
            <a:ext cx="40690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E554B"/>
                </a:solidFill>
                <a:latin typeface="Arial"/>
              </a:rPr>
              <a:t>Итог месяца. Считайте их отдельно от остального.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E554B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A8E7E"/>
                </a:solidFill>
                <a:latin typeface="Georgia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822960" cy="18288"/>
          </a:xfrm>
          <a:prstGeom prst="rect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9502C"/>
                </a:solidFill>
                <a:latin typeface="Arial"/>
              </a:rPr>
              <a:t>ЧТО 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B17"/>
                </a:solidFill>
                <a:latin typeface="Georgia"/>
              </a:rPr>
              <a:t>Через 30 дней у вас будет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F1B17"/>
                </a:solidFill>
                <a:latin typeface="Arial"/>
              </a:rPr>
              <a:t>Профиль, по которому за 5 секунд понятно, кто вы и как к вам попасть.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4612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F1B17"/>
                </a:solidFill>
                <a:latin typeface="Arial"/>
              </a:rPr>
              <a:t>12–16 публикаций: польза, кейсы, личные истории и предложение.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77639"/>
            <a:ext cx="502920" cy="502920"/>
          </a:xfrm>
          <a:prstGeom prst="ellipse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7763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F1B17"/>
                </a:solidFill>
                <a:latin typeface="Arial"/>
              </a:rPr>
              <a:t>Сформулированный оффер с ценой и понятным следующим шагом.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709159"/>
            <a:ext cx="502920" cy="502920"/>
          </a:xfrm>
          <a:prstGeom prst="ellipse">
            <a:avLst/>
          </a:prstGeom>
          <a:solidFill>
            <a:srgbClr val="B95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70915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F1B17"/>
                </a:solidFill>
                <a:latin typeface="Arial"/>
              </a:rPr>
              <a:t>Список людей, которые проявили интерес, — с ними и продолжаете работать.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E554B"/>
                </a:solidFill>
                <a:latin typeface="Arial"/>
              </a:rPr>
              <a:t>Дальше повторяйте недели 2–4 с новыми темами. План работает для любой экспертной ниши.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E554B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A8E7E"/>
                </a:solidFill>
                <a:latin typeface="Georgia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Личный бренд эксперта за 30 дней: план по неделям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