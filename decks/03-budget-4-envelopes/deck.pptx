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01000" y="548640"/>
            <a:ext cx="3639312" cy="5715000"/>
          </a:xfrm>
          <a:prstGeom prst="roundRect">
            <a:avLst>
              <a:gd name="adj" fmla="val 4522"/>
            </a:avLst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001000" y="914400"/>
            <a:ext cx="3639312" cy="3840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240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5029200"/>
            <a:ext cx="363931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Trebuchet MS"/>
              </a:rPr>
              <a:t>конверта на месяц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03503"/>
            <a:ext cx="2578608" cy="329184"/>
          </a:xfrm>
          <a:prstGeom prst="roundRect">
            <a:avLst>
              <a:gd name="adj" fmla="val 50000"/>
            </a:avLst>
          </a:prstGeom>
          <a:solidFill>
            <a:srgbClr val="CDE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4A2E"/>
                </a:solidFill>
                <a:latin typeface="Trebuchet MS"/>
              </a:rPr>
              <a:t>Практическое руководство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7223760" cy="32461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3261C"/>
                </a:solidFill>
                <a:latin typeface="Trebuchet MS"/>
              </a:rPr>
              <a:t>Личный бюджет за один вечер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72237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D6255"/>
                </a:solidFill>
                <a:latin typeface="Trebuchet MS"/>
              </a:rPr>
              <a:t>Система из четырёх конвертов: без таблиц на 50 строк и без записи каждой покупки.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1500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3261C"/>
                </a:solidFill>
                <a:latin typeface="Trebuchet MS"/>
              </a:rPr>
              <a:t>1 вечер · 4 конверта · 4 правила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D6255"/>
                </a:solidFill>
                <a:latin typeface="Trebuchet MS"/>
              </a:rPr>
              <a:t>Концепт для портфолио, бренд и данные вымышлены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66344"/>
            <a:ext cx="658368" cy="329184"/>
          </a:xfrm>
          <a:prstGeom prst="roundRect">
            <a:avLst>
              <a:gd name="adj" fmla="val 50000"/>
            </a:avLst>
          </a:prstGeom>
          <a:solidFill>
            <a:srgbClr val="CDE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4A2E"/>
                </a:solidFill>
                <a:latin typeface="Trebuchet MS"/>
              </a:rPr>
              <a:t>Идея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3261C"/>
                </a:solidFill>
                <a:latin typeface="Trebuchet MS"/>
              </a:rPr>
              <a:t>Бюджет — это план трат,</a:t>
            </a:r>
          </a:p>
          <a:p>
            <a:pPr algn="l">
              <a:lnSpc>
                <a:spcPct val="100000"/>
              </a:lnSpc>
            </a:pPr>
            <a:r>
              <a:rPr sz="3600" b="1">
                <a:solidFill>
                  <a:srgbClr val="13261C"/>
                </a:solidFill>
                <a:latin typeface="Trebuchet MS"/>
              </a:rPr>
              <a:t>а не запрет на них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51760"/>
            <a:ext cx="3514344" cy="2926080"/>
          </a:xfrm>
          <a:prstGeom prst="roundRect">
            <a:avLst>
              <a:gd name="adj" fmla="val 5624"/>
            </a:avLst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2926079"/>
            <a:ext cx="296570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3261C"/>
                </a:solidFill>
                <a:latin typeface="Trebuchet MS"/>
              </a:rPr>
              <a:t>Вы знаете лимит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703320"/>
            <a:ext cx="2965704" cy="1645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D6255"/>
                </a:solidFill>
                <a:latin typeface="Trebuchet MS"/>
              </a:rPr>
              <a:t>Сколько можно потратить сегодня без вреда для обязательных платежей и целей.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7304" y="2651760"/>
            <a:ext cx="3514344" cy="2926080"/>
          </a:xfrm>
          <a:prstGeom prst="roundRect">
            <a:avLst>
              <a:gd name="adj" fmla="val 5624"/>
            </a:avLst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11624" y="2926079"/>
            <a:ext cx="296570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3261C"/>
                </a:solidFill>
                <a:latin typeface="Trebuchet MS"/>
              </a:rPr>
              <a:t>Цели — первыми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1624" y="3703320"/>
            <a:ext cx="2965704" cy="1645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D6255"/>
                </a:solidFill>
                <a:latin typeface="Trebuchet MS"/>
              </a:rPr>
              <a:t>Деньги на подушку и цели откладываются в день дохода, а не «что останется».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5968" y="2651760"/>
            <a:ext cx="3514344" cy="2926080"/>
          </a:xfrm>
          <a:prstGeom prst="roundRect">
            <a:avLst>
              <a:gd name="adj" fmla="val 5624"/>
            </a:avLst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00288" y="2926079"/>
            <a:ext cx="296570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3261C"/>
                </a:solidFill>
                <a:latin typeface="Trebuchet MS"/>
              </a:rPr>
              <a:t>Без мелочного учёта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0288" y="3703320"/>
            <a:ext cx="2965704" cy="1645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D6255"/>
                </a:solidFill>
                <a:latin typeface="Trebuchet MS"/>
              </a:rPr>
              <a:t>Не нужно записывать каждый кофе. Достаточно следить за остатком конверта.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D6255"/>
                </a:solidFill>
                <a:latin typeface="Trebuchet MS"/>
              </a:rPr>
              <a:t>Концепт для портфолио, бренд и данные вымышлены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8CA295"/>
                </a:solidFill>
                <a:latin typeface="Trebuchet M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6634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CDE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4A2E"/>
                </a:solidFill>
                <a:latin typeface="Trebuchet MS"/>
              </a:rPr>
              <a:t>Подготовка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3261C"/>
                </a:solidFill>
                <a:latin typeface="Trebuchet MS"/>
              </a:rPr>
              <a:t>Что подготовить на вечер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51760"/>
            <a:ext cx="2567178" cy="3429000"/>
          </a:xfrm>
          <a:prstGeom prst="roundRect">
            <a:avLst>
              <a:gd name="adj" fmla="val 6411"/>
            </a:avLst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22959" y="2926079"/>
            <a:ext cx="502920" cy="502920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657600"/>
            <a:ext cx="2018538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3261C"/>
                </a:solidFill>
                <a:latin typeface="Trebuchet MS"/>
              </a:rPr>
              <a:t>Выписки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526279"/>
            <a:ext cx="2018538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D6255"/>
                </a:solidFill>
                <a:latin typeface="Trebuchet MS"/>
              </a:rPr>
              <a:t>Траты по всем картам за последние 3 месяца.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0138" y="2651760"/>
            <a:ext cx="2567178" cy="3429000"/>
          </a:xfrm>
          <a:prstGeom prst="roundRect">
            <a:avLst>
              <a:gd name="adj" fmla="val 6411"/>
            </a:avLst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664458" y="2926079"/>
            <a:ext cx="502920" cy="502920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4458" y="3657600"/>
            <a:ext cx="2018538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3261C"/>
                </a:solidFill>
                <a:latin typeface="Trebuchet MS"/>
              </a:rPr>
              <a:t>Платежи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4458" y="4526279"/>
            <a:ext cx="2018538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D6255"/>
                </a:solidFill>
                <a:latin typeface="Trebuchet MS"/>
              </a:rPr>
              <a:t>Аренда, коммуналка, связь, кредиты, подписки.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2651760"/>
            <a:ext cx="2567178" cy="3429000"/>
          </a:xfrm>
          <a:prstGeom prst="roundRect">
            <a:avLst>
              <a:gd name="adj" fmla="val 6411"/>
            </a:avLst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505955" y="2926079"/>
            <a:ext cx="502920" cy="502920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5" y="3657600"/>
            <a:ext cx="2018538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3261C"/>
                </a:solidFill>
                <a:latin typeface="Trebuchet MS"/>
              </a:rPr>
              <a:t>Заметка или таблица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5" y="4526279"/>
            <a:ext cx="2018538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D6255"/>
                </a:solidFill>
                <a:latin typeface="Trebuchet MS"/>
              </a:rPr>
              <a:t>Где будут 4 строки с суммами конвертов.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3134" y="2651760"/>
            <a:ext cx="2567178" cy="3429000"/>
          </a:xfrm>
          <a:prstGeom prst="roundRect">
            <a:avLst>
              <a:gd name="adj" fmla="val 6411"/>
            </a:avLst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347454" y="2926079"/>
            <a:ext cx="502920" cy="502920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7454" y="3657600"/>
            <a:ext cx="2018538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3261C"/>
                </a:solidFill>
                <a:latin typeface="Trebuchet MS"/>
              </a:rPr>
              <a:t>2 часа тишины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7454" y="4526279"/>
            <a:ext cx="2018538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D6255"/>
                </a:solidFill>
                <a:latin typeface="Trebuchet MS"/>
              </a:rPr>
              <a:t>Без телефона и спешки. Чай обязателен.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D6255"/>
                </a:solidFill>
                <a:latin typeface="Trebuchet MS"/>
              </a:rPr>
              <a:t>Концепт для портфолио, бренд и данные вымышлены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8CA295"/>
                </a:solidFill>
                <a:latin typeface="Trebuchet M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66344"/>
            <a:ext cx="754380" cy="329184"/>
          </a:xfrm>
          <a:prstGeom prst="roundRect">
            <a:avLst>
              <a:gd name="adj" fmla="val 50000"/>
            </a:avLst>
          </a:prstGeom>
          <a:solidFill>
            <a:srgbClr val="CDE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4A2E"/>
                </a:solidFill>
                <a:latin typeface="Trebuchet MS"/>
              </a:rPr>
              <a:t>Доход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3261C"/>
                </a:solidFill>
                <a:latin typeface="Trebuchet MS"/>
              </a:rPr>
              <a:t>Шаг 1. Посчитайте реальный</a:t>
            </a:r>
          </a:p>
          <a:p>
            <a:pPr algn="l">
              <a:lnSpc>
                <a:spcPct val="100000"/>
              </a:lnSpc>
            </a:pPr>
            <a:r>
              <a:rPr sz="3600" b="1">
                <a:solidFill>
                  <a:srgbClr val="13261C"/>
                </a:solidFill>
                <a:latin typeface="Trebuchet MS"/>
              </a:rPr>
              <a:t>доход за месяц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2377440" cy="1645920"/>
          </a:xfrm>
          <a:prstGeom prst="roundRect">
            <a:avLst>
              <a:gd name="adj" fmla="val 10000"/>
            </a:avLst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3261C"/>
                </a:solidFill>
                <a:latin typeface="Trebuchet MS"/>
              </a:rPr>
              <a:t>Зарплата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6255"/>
                </a:solidFill>
                <a:latin typeface="Trebuchet MS"/>
              </a:rPr>
              <a:t>после налогов, на руки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651760"/>
            <a:ext cx="54864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E7A4C"/>
                </a:solidFill>
                <a:latin typeface="Trebuchet MS"/>
              </a:rPr>
              <a:t>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377440"/>
            <a:ext cx="2377440" cy="1645920"/>
          </a:xfrm>
          <a:prstGeom prst="roundRect">
            <a:avLst>
              <a:gd name="adj" fmla="val 10000"/>
            </a:avLst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57600" y="2560320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3261C"/>
                </a:solidFill>
                <a:latin typeface="Trebuchet MS"/>
              </a:rPr>
              <a:t>Подработки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2461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6255"/>
                </a:solidFill>
                <a:latin typeface="Trebuchet MS"/>
              </a:rPr>
              <a:t>среднее за 3 месяца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651760"/>
            <a:ext cx="54864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E7A4C"/>
                </a:solidFill>
                <a:latin typeface="Trebuchet MS"/>
              </a:rPr>
              <a:t>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377440"/>
            <a:ext cx="2377440" cy="1645920"/>
          </a:xfrm>
          <a:prstGeom prst="roundRect">
            <a:avLst>
              <a:gd name="adj" fmla="val 10000"/>
            </a:avLst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3261C"/>
                </a:solidFill>
                <a:latin typeface="Trebuchet MS"/>
              </a:rPr>
              <a:t>Нерегулярное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461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6255"/>
                </a:solidFill>
                <a:latin typeface="Trebuchet MS"/>
              </a:rPr>
              <a:t>премии и подарки не учитываем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651760"/>
            <a:ext cx="54864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E7A4C"/>
                </a:solidFill>
                <a:latin typeface="Trebuchet MS"/>
              </a:rPr>
              <a:t>=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377440"/>
            <a:ext cx="2377440" cy="1645920"/>
          </a:xfrm>
          <a:prstGeom prst="roundRect">
            <a:avLst>
              <a:gd name="adj" fmla="val 10000"/>
            </a:avLst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59" y="2560320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Trebuchet MS"/>
              </a:rPr>
              <a:t>Доход месяца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59" y="32461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Trebuchet MS"/>
              </a:rPr>
              <a:t>с ним и работаем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D6255"/>
                </a:solidFill>
                <a:latin typeface="Trebuchet MS"/>
              </a:rPr>
              <a:t>Нерегулярные деньги, когда придут, сразу отправляйте в конверт «Цели» или «Подушка». Так бюджет не развалится в месяц без премии.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D6255"/>
                </a:solidFill>
                <a:latin typeface="Trebuchet MS"/>
              </a:rPr>
              <a:t>Концепт для портфолио, бренд и данные вымышлены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8CA295"/>
                </a:solidFill>
                <a:latin typeface="Trebuchet M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66344"/>
            <a:ext cx="946403" cy="329184"/>
          </a:xfrm>
          <a:prstGeom prst="roundRect">
            <a:avLst>
              <a:gd name="adj" fmla="val 50000"/>
            </a:avLst>
          </a:prstGeom>
          <a:solidFill>
            <a:srgbClr val="CDE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4A2E"/>
                </a:solidFill>
                <a:latin typeface="Trebuchet MS"/>
              </a:rPr>
              <a:t>Система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3261C"/>
                </a:solidFill>
                <a:latin typeface="Trebuchet MS"/>
              </a:rPr>
              <a:t>Шаг 2. Разложите доход</a:t>
            </a:r>
          </a:p>
          <a:p>
            <a:pPr algn="l">
              <a:lnSpc>
                <a:spcPct val="100000"/>
              </a:lnSpc>
            </a:pPr>
            <a:r>
              <a:rPr sz="3600" b="1">
                <a:solidFill>
                  <a:srgbClr val="13261C"/>
                </a:solidFill>
                <a:latin typeface="Trebuchet MS"/>
              </a:rPr>
              <a:t>на четыре конверта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286000"/>
            <a:ext cx="2560320" cy="1600200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Isosceles Triangle 4"/>
          <p:cNvSpPr/>
          <p:nvPr/>
        </p:nvSpPr>
        <p:spPr>
          <a:xfrm rot="10800000">
            <a:off x="658368" y="2212848"/>
            <a:ext cx="2340864" cy="822960"/>
          </a:xfrm>
          <a:prstGeom prst="triangle">
            <a:avLst/>
          </a:prstGeom>
          <a:solidFill>
            <a:srgbClr val="0F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Trebuchet MS"/>
              </a:rPr>
              <a:t>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3261C"/>
                </a:solidFill>
                <a:latin typeface="Trebuchet MS"/>
              </a:rPr>
              <a:t>Обязательное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262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D6255"/>
                </a:solidFill>
                <a:latin typeface="Trebuchet MS"/>
              </a:rPr>
              <a:t>Жильё, коммуналка, связь, кредиты, проезд.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286000"/>
            <a:ext cx="2560320" cy="1600200"/>
          </a:xfrm>
          <a:prstGeom prst="rect">
            <a:avLst/>
          </a:prstGeom>
          <a:solidFill>
            <a:srgbClr val="CDE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Isosceles Triangle 9"/>
          <p:cNvSpPr/>
          <p:nvPr/>
        </p:nvSpPr>
        <p:spPr>
          <a:xfrm rot="10800000">
            <a:off x="3493008" y="2212848"/>
            <a:ext cx="2340864" cy="822960"/>
          </a:xfrm>
          <a:prstGeom prst="triangle">
            <a:avLst/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383280" y="292608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F4A2E"/>
                </a:solidFill>
                <a:latin typeface="Trebuchet MS"/>
              </a:rPr>
              <a:t>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06908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3261C"/>
                </a:solidFill>
                <a:latin typeface="Trebuchet MS"/>
              </a:rPr>
              <a:t>Жизнь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5262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D6255"/>
                </a:solidFill>
                <a:latin typeface="Trebuchet MS"/>
              </a:rPr>
              <a:t>Еда, кафе, одежда, развлечения, подарки.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560320" cy="1600200"/>
          </a:xfrm>
          <a:prstGeom prst="rect">
            <a:avLst/>
          </a:prstGeom>
          <a:solidFill>
            <a:srgbClr val="CDE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Isosceles Triangle 14"/>
          <p:cNvSpPr/>
          <p:nvPr/>
        </p:nvSpPr>
        <p:spPr>
          <a:xfrm rot="10800000">
            <a:off x="6327648" y="2212848"/>
            <a:ext cx="2340864" cy="822960"/>
          </a:xfrm>
          <a:prstGeom prst="triangle">
            <a:avLst/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7920" y="292608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F4A2E"/>
                </a:solidFill>
                <a:latin typeface="Trebuchet MS"/>
              </a:rP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06908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3261C"/>
                </a:solidFill>
                <a:latin typeface="Trebuchet MS"/>
              </a:rPr>
              <a:t>Подушка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45262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D6255"/>
                </a:solidFill>
                <a:latin typeface="Trebuchet MS"/>
              </a:rPr>
              <a:t>Запас на 3–6 месяцев обязательных трат.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286000"/>
            <a:ext cx="2560320" cy="1600200"/>
          </a:xfrm>
          <a:prstGeom prst="rect">
            <a:avLst/>
          </a:prstGeom>
          <a:solidFill>
            <a:srgbClr val="CDE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Isosceles Triangle 19"/>
          <p:cNvSpPr/>
          <p:nvPr/>
        </p:nvSpPr>
        <p:spPr>
          <a:xfrm rot="10800000">
            <a:off x="9162288" y="2212848"/>
            <a:ext cx="2340864" cy="822960"/>
          </a:xfrm>
          <a:prstGeom prst="triangle">
            <a:avLst/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052560" y="292608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F4A2E"/>
                </a:solidFill>
                <a:latin typeface="Trebuchet MS"/>
              </a:rPr>
              <a:t>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406908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3261C"/>
                </a:solidFill>
                <a:latin typeface="Trebuchet MS"/>
              </a:rPr>
              <a:t>Цели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5262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D6255"/>
                </a:solidFill>
                <a:latin typeface="Trebuchet MS"/>
              </a:rPr>
              <a:t>Отпуск, обучение, крупные покупки.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25714"/>
            </a:avLst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60" y="55778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3261C"/>
                </a:solidFill>
                <a:latin typeface="Trebuchet MS"/>
              </a:rPr>
              <a:t>Пропорции — ориентир. Если обязательное больше 50%, урезайте «Жизнь», а не подушку.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D6255"/>
                </a:solidFill>
                <a:latin typeface="Trebuchet MS"/>
              </a:rPr>
              <a:t>Концепт для портфолио, бренд и данные вымышлены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8CA295"/>
                </a:solidFill>
                <a:latin typeface="Trebuchet M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66344"/>
            <a:ext cx="850392" cy="329184"/>
          </a:xfrm>
          <a:prstGeom prst="roundRect">
            <a:avLst>
              <a:gd name="adj" fmla="val 50000"/>
            </a:avLst>
          </a:prstGeom>
          <a:solidFill>
            <a:srgbClr val="CDE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4A2E"/>
                </a:solidFill>
                <a:latin typeface="Trebuchet MS"/>
              </a:rPr>
              <a:t>Расчёт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3261C"/>
                </a:solidFill>
                <a:latin typeface="Trebuchet MS"/>
              </a:rPr>
              <a:t>Пример: доход 80 000 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94560"/>
            <a:ext cx="5545836" cy="1188720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5271516" cy="11887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Trebuchet MS"/>
              </a:rPr>
              <a:t>40 т.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76" y="2194560"/>
            <a:ext cx="3327501" cy="1188720"/>
          </a:xfrm>
          <a:prstGeom prst="rect">
            <a:avLst/>
          </a:prstGeom>
          <a:solidFill>
            <a:srgbClr val="0F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31636" y="2194560"/>
            <a:ext cx="3053181" cy="11887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Trebuchet MS"/>
              </a:rPr>
              <a:t>24 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9421977" y="2194560"/>
            <a:ext cx="1109167" cy="1188720"/>
          </a:xfrm>
          <a:prstGeom prst="rect">
            <a:avLst/>
          </a:prstGeom>
          <a:solidFill>
            <a:srgbClr val="CDE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59137" y="2194560"/>
            <a:ext cx="834847" cy="11887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3261C"/>
                </a:solidFill>
                <a:latin typeface="Trebuchet MS"/>
              </a:rPr>
              <a:t>8 т.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31144" y="2194560"/>
            <a:ext cx="1109167" cy="1188720"/>
          </a:xfrm>
          <a:prstGeom prst="rect">
            <a:avLst/>
          </a:prstGeom>
          <a:solidFill>
            <a:srgbClr val="8CA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668304" y="2194560"/>
            <a:ext cx="834847" cy="11887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Trebuchet MS"/>
              </a:rPr>
              <a:t>8 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0448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" y="379476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3261C"/>
                </a:solidFill>
                <a:latin typeface="Trebuchet MS"/>
              </a:rPr>
              <a:t>Обязательное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9476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3261C"/>
                </a:solidFill>
                <a:latin typeface="Trebuchet MS"/>
              </a:rPr>
              <a:t>40 000 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5312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3261C"/>
                </a:solidFill>
                <a:latin typeface="Trebuchet MS"/>
              </a:rPr>
              <a:t>Жизнь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434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3261C"/>
                </a:solidFill>
                <a:latin typeface="Trebuchet MS"/>
              </a:rPr>
              <a:t>24 000 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0176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DE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05840" y="489204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3261C"/>
                </a:solidFill>
                <a:latin typeface="Trebuchet MS"/>
              </a:rPr>
              <a:t>Подушка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8920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3261C"/>
                </a:solidFill>
                <a:latin typeface="Trebuchet MS"/>
              </a:rPr>
              <a:t>8 000 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5040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8CA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05840" y="5440679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3261C"/>
                </a:solidFill>
                <a:latin typeface="Trebuchet MS"/>
              </a:rPr>
              <a:t>Цели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440679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3261C"/>
                </a:solidFill>
                <a:latin typeface="Trebuchet MS"/>
              </a:rPr>
              <a:t>8 000 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3794760"/>
            <a:ext cx="4142232" cy="2148840"/>
          </a:xfrm>
          <a:prstGeom prst="roundRect">
            <a:avLst>
              <a:gd name="adj" fmla="val 7659"/>
            </a:avLst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0" y="3977639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D6255"/>
                </a:solidFill>
                <a:latin typeface="Trebuchet MS"/>
              </a:rPr>
              <a:t>За год в конвертах «Подушка» и «Цели»:
</a:t>
            </a:r>
          </a:p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7A4C"/>
                </a:solidFill>
                <a:latin typeface="Trebuchet MS"/>
              </a:rPr>
              <a:t>192 000 ₽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6255"/>
                </a:solidFill>
                <a:latin typeface="Trebuchet MS"/>
              </a:rPr>
              <a:t>при том же доходе и без отказа от кафе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D6255"/>
                </a:solidFill>
                <a:latin typeface="Trebuchet MS"/>
              </a:rPr>
              <a:t>Концепт для портфолио, бренд и данные вымышлены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8CA295"/>
                </a:solidFill>
                <a:latin typeface="Trebuchet M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66344"/>
            <a:ext cx="754380" cy="329184"/>
          </a:xfrm>
          <a:prstGeom prst="roundRect">
            <a:avLst>
              <a:gd name="adj" fmla="val 50000"/>
            </a:avLst>
          </a:prstGeom>
          <a:solidFill>
            <a:srgbClr val="CDE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4A2E"/>
                </a:solidFill>
                <a:latin typeface="Trebuchet MS"/>
              </a:rPr>
              <a:t>Лимит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3261C"/>
                </a:solidFill>
                <a:latin typeface="Trebuchet MS"/>
              </a:rPr>
              <a:t>Шаг 3. Конверт «Жизнь»</a:t>
            </a:r>
          </a:p>
          <a:p>
            <a:pPr algn="l">
              <a:lnSpc>
                <a:spcPct val="100000"/>
              </a:lnSpc>
            </a:pPr>
            <a:r>
              <a:rPr sz="3600" b="1">
                <a:solidFill>
                  <a:srgbClr val="13261C"/>
                </a:solidFill>
                <a:latin typeface="Trebuchet MS"/>
              </a:rPr>
              <a:t>делите на недели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31720"/>
            <a:ext cx="3108960" cy="3108960"/>
          </a:xfrm>
          <a:prstGeom prst="roundRect">
            <a:avLst>
              <a:gd name="adj" fmla="val 5294"/>
            </a:avLst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Trebuchet MS"/>
              </a:rPr>
              <a:t>Жизнь на месяц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Trebuchet MS"/>
              </a:rPr>
              <a:t>24 000 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Trebuchet MS"/>
              </a:rPr>
              <a:t>÷ 4 недели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2331720"/>
            <a:ext cx="1783080" cy="3108960"/>
          </a:xfrm>
          <a:prstGeom prst="roundRect">
            <a:avLst>
              <a:gd name="adj" fmla="val 9230"/>
            </a:avLst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023360" y="25603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D6255"/>
                </a:solidFill>
                <a:latin typeface="Trebuchet MS"/>
              </a:rPr>
              <a:t>Неделя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291840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3261C"/>
                </a:solidFill>
                <a:latin typeface="Trebuchet MS"/>
              </a:rPr>
              <a:t>6 000 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343400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D6255"/>
                </a:solidFill>
                <a:latin typeface="Trebuchet MS"/>
              </a:rPr>
              <a:t>≈ 850 ₽ в день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71032" y="2331720"/>
            <a:ext cx="1783080" cy="3108960"/>
          </a:xfrm>
          <a:prstGeom prst="roundRect">
            <a:avLst>
              <a:gd name="adj" fmla="val 9230"/>
            </a:avLst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71032" y="25603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D6255"/>
                </a:solidFill>
                <a:latin typeface="Trebuchet MS"/>
              </a:rPr>
              <a:t>Неделя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2" y="3291840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3261C"/>
                </a:solidFill>
                <a:latin typeface="Trebuchet MS"/>
              </a:rPr>
              <a:t>6 000 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4343400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D6255"/>
                </a:solidFill>
                <a:latin typeface="Trebuchet MS"/>
              </a:rPr>
              <a:t>≈ 850 ₽ в день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18704" y="2331720"/>
            <a:ext cx="1783080" cy="3108960"/>
          </a:xfrm>
          <a:prstGeom prst="roundRect">
            <a:avLst>
              <a:gd name="adj" fmla="val 9230"/>
            </a:avLst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918704" y="25603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D6255"/>
                </a:solidFill>
                <a:latin typeface="Trebuchet MS"/>
              </a:rPr>
              <a:t>Неделя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8704" y="3291840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3261C"/>
                </a:solidFill>
                <a:latin typeface="Trebuchet MS"/>
              </a:rPr>
              <a:t>6 000 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4343400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D6255"/>
                </a:solidFill>
                <a:latin typeface="Trebuchet MS"/>
              </a:rPr>
              <a:t>≈ 850 ₽ в день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66376" y="2331720"/>
            <a:ext cx="1783080" cy="3108960"/>
          </a:xfrm>
          <a:prstGeom prst="roundRect">
            <a:avLst>
              <a:gd name="adj" fmla="val 9230"/>
            </a:avLst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866376" y="25603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D6255"/>
                </a:solidFill>
                <a:latin typeface="Trebuchet MS"/>
              </a:rPr>
              <a:t>Неделя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66376" y="3291840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3261C"/>
                </a:solidFill>
                <a:latin typeface="Trebuchet MS"/>
              </a:rPr>
              <a:t>6 000 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3536" y="4343400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D6255"/>
                </a:solidFill>
                <a:latin typeface="Trebuchet MS"/>
              </a:rPr>
              <a:t>≈ 850 ₽ в день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D6255"/>
                </a:solidFill>
                <a:latin typeface="Trebuchet MS"/>
              </a:rPr>
              <a:t>Остаток недели переходит на следующую или уходит в «Цели». Перерасход вычитается из следующей недели.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D6255"/>
                </a:solidFill>
                <a:latin typeface="Trebuchet MS"/>
              </a:rPr>
              <a:t>Концепт для портфолио, бренд и данные вымышлены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8CA295"/>
                </a:solidFill>
                <a:latin typeface="Trebuchet M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66344"/>
            <a:ext cx="1522476" cy="329184"/>
          </a:xfrm>
          <a:prstGeom prst="roundRect">
            <a:avLst>
              <a:gd name="adj" fmla="val 50000"/>
            </a:avLst>
          </a:prstGeom>
          <a:solidFill>
            <a:srgbClr val="CDE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4A2E"/>
                </a:solidFill>
                <a:latin typeface="Trebuchet MS"/>
              </a:rPr>
              <a:t>Автоматизация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3261C"/>
                </a:solidFill>
                <a:latin typeface="Trebuchet MS"/>
              </a:rPr>
              <a:t>Шаг 4. Всё раскладывается</a:t>
            </a:r>
          </a:p>
          <a:p>
            <a:pPr algn="l">
              <a:lnSpc>
                <a:spcPct val="100000"/>
              </a:lnSpc>
            </a:pPr>
            <a:r>
              <a:rPr sz="3600" b="1">
                <a:solidFill>
                  <a:srgbClr val="13261C"/>
                </a:solidFill>
                <a:latin typeface="Trebuchet MS"/>
              </a:rPr>
              <a:t>в день зарплаты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51760"/>
            <a:ext cx="2532888" cy="914400"/>
          </a:xfrm>
          <a:prstGeom prst="roundRect">
            <a:avLst>
              <a:gd name="adj" fmla="val 18000"/>
            </a:avLst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rebuchet MS"/>
              </a:rPr>
              <a:t>Доход пришёл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81528" y="2651760"/>
            <a:ext cx="32004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E7A4C"/>
                </a:solidFill>
                <a:latin typeface="Trebuchet MS"/>
              </a:rPr>
              <a:t>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2350008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6255"/>
                </a:solidFill>
                <a:latin typeface="Trebuchet MS"/>
              </a:rPr>
              <a:t>Не тратим ничего, пока не разложили.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2651760"/>
            <a:ext cx="2532888" cy="914400"/>
          </a:xfrm>
          <a:prstGeom prst="roundRect">
            <a:avLst>
              <a:gd name="adj" fmla="val 18000"/>
            </a:avLst>
          </a:prstGeom>
          <a:solidFill>
            <a:srgbClr val="0F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rebuchet MS"/>
              </a:rPr>
              <a:t>Подушка и Цели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6" y="2651760"/>
            <a:ext cx="32004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E7A4C"/>
                </a:solidFill>
                <a:latin typeface="Trebuchet MS"/>
              </a:rPr>
              <a:t>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008" y="3840480"/>
            <a:ext cx="2350008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6255"/>
                </a:solidFill>
                <a:latin typeface="Trebuchet MS"/>
              </a:rPr>
              <a:t>Сразу переводим 20% на отдельные накопительные счета.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2651760"/>
            <a:ext cx="2532888" cy="914400"/>
          </a:xfrm>
          <a:prstGeom prst="roundRect">
            <a:avLst>
              <a:gd name="adj" fmla="val 18000"/>
            </a:avLst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rebuchet MS"/>
              </a:rPr>
              <a:t>Обязательное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87384" y="2651760"/>
            <a:ext cx="32004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E7A4C"/>
                </a:solidFill>
                <a:latin typeface="Trebuchet MS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3840480"/>
            <a:ext cx="2350008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6255"/>
                </a:solidFill>
                <a:latin typeface="Trebuchet MS"/>
              </a:rPr>
              <a:t>Оплачиваем счета или откладываем на отдельный счёт.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07424" y="2651760"/>
            <a:ext cx="2532888" cy="914400"/>
          </a:xfrm>
          <a:prstGeom prst="roundRect">
            <a:avLst>
              <a:gd name="adj" fmla="val 18000"/>
            </a:avLst>
          </a:prstGeom>
          <a:solidFill>
            <a:srgbClr val="0F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rebuchet MS"/>
              </a:rPr>
              <a:t>Жизнь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3840480"/>
            <a:ext cx="2350008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6255"/>
                </a:solidFill>
                <a:latin typeface="Trebuchet MS"/>
              </a:rPr>
              <a:t>Остаток — на повседневную карту с недельным лимитом.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8947"/>
            </a:avLst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48640" y="5257800"/>
            <a:ext cx="64008" cy="868680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8680" y="525780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3261C"/>
                </a:solidFill>
                <a:latin typeface="Trebuchet MS"/>
              </a:rPr>
              <a:t>Настройте автоперевод в банковском приложении на день зарплаты — и система работает без силы воли.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D6255"/>
                </a:solidFill>
                <a:latin typeface="Trebuchet MS"/>
              </a:rPr>
              <a:t>Концепт для портфолио, бренд и данные вымышлены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8CA295"/>
                </a:solidFill>
                <a:latin typeface="Trebuchet M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6634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CDE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4A2E"/>
                </a:solidFill>
                <a:latin typeface="Trebuchet MS"/>
              </a:rPr>
              <a:t>Дисциплина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3261C"/>
                </a:solidFill>
                <a:latin typeface="Trebuchet MS"/>
              </a:rPr>
              <a:t>Четыре правила, чтобы</a:t>
            </a:r>
          </a:p>
          <a:p>
            <a:pPr algn="l">
              <a:lnSpc>
                <a:spcPct val="100000"/>
              </a:lnSpc>
            </a:pPr>
            <a:r>
              <a:rPr sz="3600" b="1">
                <a:solidFill>
                  <a:srgbClr val="13261C"/>
                </a:solidFill>
                <a:latin typeface="Trebuchet MS"/>
              </a:rPr>
              <a:t>система не развалилась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51760"/>
            <a:ext cx="2567178" cy="3429000"/>
          </a:xfrm>
          <a:prstGeom prst="roundRect">
            <a:avLst>
              <a:gd name="adj" fmla="val 6411"/>
            </a:avLst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22959" y="2926079"/>
            <a:ext cx="502920" cy="502920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657600"/>
            <a:ext cx="2018538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3261C"/>
                </a:solidFill>
                <a:latin typeface="Trebuchet MS"/>
              </a:rPr>
              <a:t>Сначала себе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526279"/>
            <a:ext cx="2018538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6255"/>
                </a:solidFill>
                <a:latin typeface="Trebuchet MS"/>
              </a:rPr>
              <a:t>Подушка и цели пополняются первыми, а не из остатков в конце месяца.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0138" y="2651760"/>
            <a:ext cx="2567178" cy="3429000"/>
          </a:xfrm>
          <a:prstGeom prst="roundRect">
            <a:avLst>
              <a:gd name="adj" fmla="val 6411"/>
            </a:avLst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664458" y="2926079"/>
            <a:ext cx="502920" cy="502920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4458" y="3657600"/>
            <a:ext cx="2018538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3261C"/>
                </a:solidFill>
                <a:latin typeface="Trebuchet MS"/>
              </a:rPr>
              <a:t>Подушку не трогаем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4458" y="4526279"/>
            <a:ext cx="2018538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6255"/>
                </a:solidFill>
                <a:latin typeface="Trebuchet MS"/>
              </a:rPr>
              <a:t>Только для потери дохода, лечения или срочного ремонта. Не для распродаж.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2651760"/>
            <a:ext cx="2567178" cy="3429000"/>
          </a:xfrm>
          <a:prstGeom prst="roundRect">
            <a:avLst>
              <a:gd name="adj" fmla="val 6411"/>
            </a:avLst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505955" y="2926079"/>
            <a:ext cx="502920" cy="502920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5" y="3657600"/>
            <a:ext cx="2018538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3261C"/>
                </a:solidFill>
                <a:latin typeface="Trebuchet MS"/>
              </a:rPr>
              <a:t>Перерасход — в счёт будущего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5" y="4526279"/>
            <a:ext cx="2018538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6255"/>
                </a:solidFill>
                <a:latin typeface="Trebuchet MS"/>
              </a:rPr>
              <a:t>Потратили больше за неделю — уменьшите лимит следующей.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3134" y="2651760"/>
            <a:ext cx="2567178" cy="3429000"/>
          </a:xfrm>
          <a:prstGeom prst="roundRect">
            <a:avLst>
              <a:gd name="adj" fmla="val 6411"/>
            </a:avLst>
          </a:prstGeom>
          <a:solidFill>
            <a:srgbClr val="E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347454" y="2926079"/>
            <a:ext cx="502920" cy="502920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7454" y="3657600"/>
            <a:ext cx="2018538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3261C"/>
                </a:solidFill>
                <a:latin typeface="Trebuchet MS"/>
              </a:rPr>
              <a:t>20 минут в месяц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7454" y="4526279"/>
            <a:ext cx="2018538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6255"/>
                </a:solidFill>
                <a:latin typeface="Trebuchet MS"/>
              </a:rPr>
              <a:t>Сверьте план и факт, поправьте проценты, если жизнь изменилась.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D6255"/>
                </a:solidFill>
                <a:latin typeface="Trebuchet MS"/>
              </a:rPr>
              <a:t>Концепт для портфолио, бренд и данные вымышлены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8CA295"/>
                </a:solidFill>
                <a:latin typeface="Trebuchet M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603503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CDE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4A2E"/>
                </a:solidFill>
                <a:latin typeface="Trebuchet MS"/>
              </a:rPr>
              <a:t>Что дальше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3261C"/>
                </a:solidFill>
                <a:latin typeface="Trebuchet MS"/>
              </a:rPr>
              <a:t>Чек-лист вечера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1460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3261C"/>
                </a:solidFill>
                <a:latin typeface="Trebuchet MS"/>
              </a:rPr>
              <a:t>Посчитан доход месяца без премий и подарков.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24612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3261C"/>
                </a:solidFill>
                <a:latin typeface="Trebuchet MS"/>
              </a:rPr>
              <a:t>Выписаны все обязательные платежи и их сумма.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977639"/>
            <a:ext cx="502920" cy="502920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977639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3261C"/>
                </a:solidFill>
                <a:latin typeface="Trebuchet MS"/>
              </a:rPr>
              <a:t>Открыты отдельные счета или копилки для «Подушки» и «Цели».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709159"/>
            <a:ext cx="502920" cy="502920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709159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3261C"/>
                </a:solidFill>
                <a:latin typeface="Trebuchet MS"/>
              </a:rPr>
              <a:t>Настроен автоперевод на день зарплаты и посчитан недельный лимит.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D6255"/>
                </a:solidFill>
                <a:latin typeface="Trebuchet MS"/>
              </a:rPr>
              <a:t>Через месяц сравните план и факт. Презентация не является индивидуальной финансовой рекомендацией.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D6255"/>
                </a:solidFill>
                <a:latin typeface="Trebuchet MS"/>
              </a:rPr>
              <a:t>Концепт для портфолио, бренд и данные вымышлены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8CA295"/>
                </a:solidFill>
                <a:latin typeface="Trebuchet M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Личный бюджет за один вечер: система из 4 конвертов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