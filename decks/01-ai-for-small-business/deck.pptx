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31352" y="0"/>
            <a:ext cx="3657600" cy="68580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531352" y="109728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20000" b="0">
                <a:solidFill>
                  <a:srgbClr val="0B0B0C"/>
                </a:solidFill>
                <a:latin typeface="Arial Black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713231"/>
            <a:ext cx="320040" cy="73152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0584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202B"/>
                </a:solidFill>
                <a:latin typeface="Arial"/>
              </a:rPr>
              <a:t>ПРАКТИЧЕСКОЕ РУКОВОДСТВО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7223760" cy="324612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0">
                <a:solidFill>
                  <a:srgbClr val="FFFFFF"/>
                </a:solidFill>
                <a:latin typeface="Arial Black"/>
              </a:rPr>
              <a:t>10 задач малого бизнеса, которые можно отдать нейросети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17720"/>
            <a:ext cx="72237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3A3A8"/>
                </a:solidFill>
                <a:latin typeface="Arial"/>
              </a:rPr>
              <a:t>Готовые промпты для текстов, клиентов, цифр и команды. Копируйте, подставляйте свои данные, проверяйте результат.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150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10 слайдов · 10 промптов · 15 минут на чтение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3A8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76072"/>
            <a:ext cx="320040" cy="73152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202B"/>
                </a:solidFill>
                <a:latin typeface="Arial"/>
              </a:rPr>
              <a:t>ГЛАВНОЕ ПРАВИЛО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FFFFFF"/>
                </a:solidFill>
                <a:latin typeface="Arial Black"/>
              </a:rPr>
              <a:t>Нейросеть — это стажёр,</a:t>
            </a:r>
          </a:p>
          <a:p>
            <a:pPr algn="l">
              <a:lnSpc>
                <a:spcPct val="100000"/>
              </a:lnSpc>
            </a:pPr>
            <a:r>
              <a:rPr sz="3600" b="0">
                <a:solidFill>
                  <a:srgbClr val="FFFFFF"/>
                </a:solidFill>
                <a:latin typeface="Arial Black"/>
              </a:rPr>
              <a:t>а не директор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3514344" cy="342900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3514344" cy="64008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2926079"/>
            <a:ext cx="502920" cy="502920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57600"/>
            <a:ext cx="29657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Дайте контекст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434840"/>
            <a:ext cx="2965704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A3A8"/>
                </a:solidFill>
                <a:latin typeface="Arial"/>
              </a:rPr>
              <a:t>Кто вы, кто ваш клиент, какой нужен тон и объём. Без этого ответ будет общим и пресным.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7304" y="2651760"/>
            <a:ext cx="3514344" cy="342900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337304" y="2651760"/>
            <a:ext cx="3514344" cy="64008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611624" y="2926079"/>
            <a:ext cx="502920" cy="502920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1624" y="3657600"/>
            <a:ext cx="29657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Проверяйте факты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1624" y="4434840"/>
            <a:ext cx="2965704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A3A8"/>
                </a:solidFill>
                <a:latin typeface="Arial"/>
              </a:rPr>
              <a:t>Цены, законы, даты и цифры нейросеть может выдумать уверенным тоном. Всё важное — сверять.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5968" y="2651760"/>
            <a:ext cx="3514344" cy="342900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8125968" y="2651760"/>
            <a:ext cx="3514344" cy="64008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400288" y="2926079"/>
            <a:ext cx="502920" cy="502920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0288" y="3657600"/>
            <a:ext cx="2965704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Решение за вами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0288" y="4434840"/>
            <a:ext cx="2965704" cy="1417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A3A8"/>
                </a:solidFill>
                <a:latin typeface="Arial"/>
              </a:rPr>
              <a:t>Она готовит черновик за минуту. Вы правите, добавляете своё и только потом отправляете.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3A8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5C63"/>
                </a:solidFill>
                <a:latin typeface="Arial Black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76072"/>
            <a:ext cx="320040" cy="73152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202B"/>
                </a:solidFill>
                <a:latin typeface="Arial"/>
              </a:rPr>
              <a:t>ЗАДАЧИ 1–2 · КЛИЕНТЫ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FFFFFF"/>
                </a:solidFill>
                <a:latin typeface="Arial Black"/>
              </a:rPr>
              <a:t>Типовые ответы клиентам пишутся за минуты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Ответы на частые вопросы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Что получаете: </a:t>
            </a:r>
            <a:r>
              <a:rPr sz="1300" b="0">
                <a:solidFill>
                  <a:srgbClr val="A3A3A8"/>
                </a:solidFill>
                <a:latin typeface="Arial"/>
              </a:rPr>
              <a:t>готовые шаблоны для мессенджеров и сайта.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29000"/>
            <a:ext cx="5394960" cy="2743200"/>
          </a:xfrm>
          <a:prstGeom prst="rect">
            <a:avLst/>
          </a:prstGeom>
          <a:solidFill>
            <a:srgbClr val="222226"/>
          </a:solidFill>
          <a:ln w="9525">
            <a:solidFill>
              <a:srgbClr val="5C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54864" cy="27432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3202B"/>
                </a:solidFill>
                <a:latin typeface="Arial"/>
              </a:rPr>
              <a:t>ПРОМПТ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ourier New"/>
              </a:rPr>
              <a:t>Ты администратор цветочной студии. Вот 10 частых вопросов клиентов и наши условия: [вставить]. Напиши дружелюбные ответы до 300 знаков. В конце каждого — предложение оформить заказ.</a:t>
            </a:r>
          </a:p>
        </p:txBody>
      </p:sp>
      <p:sp>
        <p:nvSpPr>
          <p:cNvPr id="12" name="Oval 11"/>
          <p:cNvSpPr/>
          <p:nvPr/>
        </p:nvSpPr>
        <p:spPr>
          <a:xfrm>
            <a:off x="6236207" y="2011680"/>
            <a:ext cx="566928" cy="566928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7" y="2011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Ответ на негативный отзыв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Что получаете: </a:t>
            </a:r>
            <a:r>
              <a:rPr sz="1300" b="0">
                <a:solidFill>
                  <a:srgbClr val="A3A3A8"/>
                </a:solidFill>
                <a:latin typeface="Arial"/>
              </a:rPr>
              <a:t>спокойный ответ без оправданий и споров.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3429000"/>
            <a:ext cx="5394960" cy="2743200"/>
          </a:xfrm>
          <a:prstGeom prst="rect">
            <a:avLst/>
          </a:prstGeom>
          <a:solidFill>
            <a:srgbClr val="222226"/>
          </a:solidFill>
          <a:ln w="9525">
            <a:solidFill>
              <a:srgbClr val="5C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36207" y="3429000"/>
            <a:ext cx="54864" cy="27432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64807" y="3566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3202B"/>
                </a:solidFill>
                <a:latin typeface="Arial"/>
              </a:rPr>
              <a:t>ПРОМПТ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8404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ourier New"/>
              </a:rPr>
              <a:t>Клиент оставил отзыв: [текст]. Напиши ответ от владельца: признай проблему, не оправдывайся, предложи конкретное решение и контакт. Тон спокойный, до 600 знаков. Дай 2 варианта.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3A8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5C63"/>
                </a:solidFill>
                <a:latin typeface="Arial Black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76072"/>
            <a:ext cx="320040" cy="73152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202B"/>
                </a:solidFill>
                <a:latin typeface="Arial"/>
              </a:rPr>
              <a:t>ЗАДАЧИ 3–4 · ПРОДАЖИ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FFFFFF"/>
                </a:solidFill>
                <a:latin typeface="Arial Black"/>
              </a:rPr>
              <a:t>Тексты, которые продают, — по шаблону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Описания товаров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Что получаете: </a:t>
            </a:r>
            <a:r>
              <a:rPr sz="1300" b="0">
                <a:solidFill>
                  <a:srgbClr val="A3A3A8"/>
                </a:solidFill>
                <a:latin typeface="Arial"/>
              </a:rPr>
              <a:t>карточки для сайта и маркетплейса в едином стиле.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29000"/>
            <a:ext cx="5394960" cy="2743200"/>
          </a:xfrm>
          <a:prstGeom prst="rect">
            <a:avLst/>
          </a:prstGeom>
          <a:solidFill>
            <a:srgbClr val="222226"/>
          </a:solidFill>
          <a:ln w="9525">
            <a:solidFill>
              <a:srgbClr val="5C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54864" cy="27432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3202B"/>
                </a:solidFill>
                <a:latin typeface="Arial"/>
              </a:rPr>
              <a:t>ПРОМПТ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ourier New"/>
              </a:rPr>
              <a:t>Вот характеристики товара: [список]. Напиши описание для карточки маркетплейса: заголовок до 60 знаков, 5 выгод для покупателя, блок «Кому подойдёт». Без слов «уникальный» и «лучший».</a:t>
            </a:r>
          </a:p>
        </p:txBody>
      </p:sp>
      <p:sp>
        <p:nvSpPr>
          <p:cNvPr id="12" name="Oval 11"/>
          <p:cNvSpPr/>
          <p:nvPr/>
        </p:nvSpPr>
        <p:spPr>
          <a:xfrm>
            <a:off x="6236207" y="2011680"/>
            <a:ext cx="566928" cy="566928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7" y="2011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Контент-план на месяц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Что получаете: </a:t>
            </a:r>
            <a:r>
              <a:rPr sz="1300" b="0">
                <a:solidFill>
                  <a:srgbClr val="A3A3A8"/>
                </a:solidFill>
                <a:latin typeface="Arial"/>
              </a:rPr>
              <a:t>темы постов на 4 недели вперёд с целью каждого.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3429000"/>
            <a:ext cx="5394960" cy="2743200"/>
          </a:xfrm>
          <a:prstGeom prst="rect">
            <a:avLst/>
          </a:prstGeom>
          <a:solidFill>
            <a:srgbClr val="222226"/>
          </a:solidFill>
          <a:ln w="9525">
            <a:solidFill>
              <a:srgbClr val="5C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36207" y="3429000"/>
            <a:ext cx="54864" cy="27432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64807" y="3566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3202B"/>
                </a:solidFill>
                <a:latin typeface="Arial"/>
              </a:rPr>
              <a:t>ПРОМПТ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8404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ourier New"/>
              </a:rPr>
              <a:t>Я владелец пекарни в спальном районе. Составь контент-план на 4 недели для Telegram-канала: 3 поста в неделю, рубрики, тема и цель каждого поста. Оформи таблицей.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3A8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5C63"/>
                </a:solidFill>
                <a:latin typeface="Arial Black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76072"/>
            <a:ext cx="320040" cy="73152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202B"/>
                </a:solidFill>
                <a:latin typeface="Arial"/>
              </a:rPr>
              <a:t>ЗАДАЧИ 5–6 · ДОКУМЕНТЫ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FFFFFF"/>
                </a:solidFill>
                <a:latin typeface="Arial Black"/>
              </a:rPr>
              <a:t>Рутинные документы — за один заход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Коммерческое предложение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Что получаете: </a:t>
            </a:r>
            <a:r>
              <a:rPr sz="1300" b="0">
                <a:solidFill>
                  <a:srgbClr val="A3A3A8"/>
                </a:solidFill>
                <a:latin typeface="Arial"/>
              </a:rPr>
              <a:t>КП на одну страницу под конкретного клиента.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29000"/>
            <a:ext cx="5394960" cy="2743200"/>
          </a:xfrm>
          <a:prstGeom prst="rect">
            <a:avLst/>
          </a:prstGeom>
          <a:solidFill>
            <a:srgbClr val="222226"/>
          </a:solidFill>
          <a:ln w="9525">
            <a:solidFill>
              <a:srgbClr val="5C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54864" cy="27432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3202B"/>
                </a:solidFill>
                <a:latin typeface="Arial"/>
              </a:rPr>
              <a:t>ПРОМПТ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ourier New"/>
              </a:rPr>
              <a:t>Составь коммерческое предложение на услугу [описание] для [тип клиента]. Структура: проблема клиента, решение, этапы, сроки, цена, следующий шаг. Объём — одна страница.</a:t>
            </a:r>
          </a:p>
        </p:txBody>
      </p:sp>
      <p:sp>
        <p:nvSpPr>
          <p:cNvPr id="12" name="Oval 11"/>
          <p:cNvSpPr/>
          <p:nvPr/>
        </p:nvSpPr>
        <p:spPr>
          <a:xfrm>
            <a:off x="6236207" y="2011680"/>
            <a:ext cx="566928" cy="566928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7" y="2011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Итоги созвона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Что получаете: </a:t>
            </a:r>
            <a:r>
              <a:rPr sz="1300" b="0">
                <a:solidFill>
                  <a:srgbClr val="A3A3A8"/>
                </a:solidFill>
                <a:latin typeface="Arial"/>
              </a:rPr>
              <a:t>решения и задачи вместо часа переслушивания записи.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3429000"/>
            <a:ext cx="5394960" cy="2743200"/>
          </a:xfrm>
          <a:prstGeom prst="rect">
            <a:avLst/>
          </a:prstGeom>
          <a:solidFill>
            <a:srgbClr val="222226"/>
          </a:solidFill>
          <a:ln w="9525">
            <a:solidFill>
              <a:srgbClr val="5C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36207" y="3429000"/>
            <a:ext cx="54864" cy="27432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64807" y="3566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3202B"/>
                </a:solidFill>
                <a:latin typeface="Arial"/>
              </a:rPr>
              <a:t>ПРОМПТ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8404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ourier New"/>
              </a:rPr>
              <a:t>Вот расшифровка созвона: [текст]. Выдели решения, задачи с ответственными и сроками, открытые вопросы. Оформи списками и ничего не додумывай.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3A8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5C63"/>
                </a:solidFill>
                <a:latin typeface="Arial Black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76072"/>
            <a:ext cx="320040" cy="73152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202B"/>
                </a:solidFill>
                <a:latin typeface="Arial"/>
              </a:rPr>
              <a:t>ЗАДАЧИ 7–8 · ЦИФРЫ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FFFFFF"/>
                </a:solidFill>
                <a:latin typeface="Arial Black"/>
              </a:rPr>
              <a:t>Цифры и конкуренты — первый разбор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Разбор выгрузки продаж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Что получаете: </a:t>
            </a:r>
            <a:r>
              <a:rPr sz="1300" b="0">
                <a:solidFill>
                  <a:srgbClr val="A3A3A8"/>
                </a:solidFill>
                <a:latin typeface="Arial"/>
              </a:rPr>
              <a:t>лидеры, провалы и пиковые дни без ручных формул.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29000"/>
            <a:ext cx="5394960" cy="2743200"/>
          </a:xfrm>
          <a:prstGeom prst="rect">
            <a:avLst/>
          </a:prstGeom>
          <a:solidFill>
            <a:srgbClr val="222226"/>
          </a:solidFill>
          <a:ln w="9525">
            <a:solidFill>
              <a:srgbClr val="5C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54864" cy="27432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3202B"/>
                </a:solidFill>
                <a:latin typeface="Arial"/>
              </a:rPr>
              <a:t>ПРОМПТ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ourier New"/>
              </a:rPr>
              <a:t>Вот выгрузка продаж за 3 месяца в CSV: [данные]. Найди 5 товаров с самой большой выручкой, товары с падением продаж и дни недели с пиком. Покажи расчёты и выводы списком.</a:t>
            </a:r>
          </a:p>
        </p:txBody>
      </p:sp>
      <p:sp>
        <p:nvSpPr>
          <p:cNvPr id="12" name="Oval 11"/>
          <p:cNvSpPr/>
          <p:nvPr/>
        </p:nvSpPr>
        <p:spPr>
          <a:xfrm>
            <a:off x="6236207" y="2011680"/>
            <a:ext cx="566928" cy="566928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7" y="2011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Анализ конкурентов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Что получаете: </a:t>
            </a:r>
            <a:r>
              <a:rPr sz="1300" b="0">
                <a:solidFill>
                  <a:srgbClr val="A3A3A8"/>
                </a:solidFill>
                <a:latin typeface="Arial"/>
              </a:rPr>
              <a:t>сравнение предложений и идеи, чем отличаться.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3429000"/>
            <a:ext cx="5394960" cy="2743200"/>
          </a:xfrm>
          <a:prstGeom prst="rect">
            <a:avLst/>
          </a:prstGeom>
          <a:solidFill>
            <a:srgbClr val="222226"/>
          </a:solidFill>
          <a:ln w="9525">
            <a:solidFill>
              <a:srgbClr val="5C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36207" y="3429000"/>
            <a:ext cx="54864" cy="27432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64807" y="3566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3202B"/>
                </a:solidFill>
                <a:latin typeface="Arial"/>
              </a:rPr>
              <a:t>ПРОМПТ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8404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ourier New"/>
              </a:rPr>
              <a:t>Вот тексты с сайтов трёх конкурентов: [тексты]. Сравни таблицей: услуги, цены, гарантии, чем каждый выделяется. Затем предложи 3 идеи, чем мы можем отличаться.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3A8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5C63"/>
                </a:solidFill>
                <a:latin typeface="Arial Black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76072"/>
            <a:ext cx="320040" cy="73152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202B"/>
                </a:solidFill>
                <a:latin typeface="Arial"/>
              </a:rPr>
              <a:t>ЗАДАЧИ 9–10 · КОМАНДА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FFFFFF"/>
                </a:solidFill>
                <a:latin typeface="Arial Black"/>
              </a:rPr>
              <a:t>Инструкции и найм — без чистого листа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011680"/>
            <a:ext cx="566928" cy="566928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11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Инструкция для сотрудника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Что получаете: </a:t>
            </a:r>
            <a:r>
              <a:rPr sz="1300" b="0">
                <a:solidFill>
                  <a:srgbClr val="A3A3A8"/>
                </a:solidFill>
                <a:latin typeface="Arial"/>
              </a:rPr>
              <a:t>чек-лист, по которому новичок работает с первого дня.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429000"/>
            <a:ext cx="5394960" cy="2743200"/>
          </a:xfrm>
          <a:prstGeom prst="rect">
            <a:avLst/>
          </a:prstGeom>
          <a:solidFill>
            <a:srgbClr val="222226"/>
          </a:solidFill>
          <a:ln w="9525">
            <a:solidFill>
              <a:srgbClr val="5C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548640" y="3429000"/>
            <a:ext cx="54864" cy="27432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3566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3202B"/>
                </a:solidFill>
                <a:latin typeface="Arial"/>
              </a:rPr>
              <a:t>ПРОМПТ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ourier New"/>
              </a:rPr>
              <a:t>Опиши, как открыть кофейню утром, для нового бариста: пошаговый чек-лист, время на каждый шаг и типичные ошибки. Язык простой, без профессиональных терминов.</a:t>
            </a:r>
          </a:p>
        </p:txBody>
      </p:sp>
      <p:sp>
        <p:nvSpPr>
          <p:cNvPr id="12" name="Oval 11"/>
          <p:cNvSpPr/>
          <p:nvPr/>
        </p:nvSpPr>
        <p:spPr>
          <a:xfrm>
            <a:off x="6236207" y="2011680"/>
            <a:ext cx="566928" cy="566928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Arial Black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7727" y="2011680"/>
            <a:ext cx="4663440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Вакансия и собеседование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27432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Что получаете: </a:t>
            </a:r>
            <a:r>
              <a:rPr sz="1300" b="0">
                <a:solidFill>
                  <a:srgbClr val="A3A3A8"/>
                </a:solidFill>
                <a:latin typeface="Arial"/>
              </a:rPr>
              <a:t>текст вакансии и вопросы, проверяющие опыт.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6207" y="3429000"/>
            <a:ext cx="5394960" cy="2743200"/>
          </a:xfrm>
          <a:prstGeom prst="rect">
            <a:avLst/>
          </a:prstGeom>
          <a:solidFill>
            <a:srgbClr val="222226"/>
          </a:solidFill>
          <a:ln w="9525">
            <a:solidFill>
              <a:srgbClr val="5C5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236207" y="3429000"/>
            <a:ext cx="54864" cy="274320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64807" y="35661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E3202B"/>
                </a:solidFill>
                <a:latin typeface="Arial"/>
              </a:rPr>
              <a:t>ПРОМПТ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3840480"/>
            <a:ext cx="498348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Courier New"/>
              </a:rPr>
              <a:t>Напиши вакансию менеджера по продажам для мебельной мастерской: обязанности, требования, условия. Добавь 7 вопросов для собеседования, которые проверяют реальный опыт.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3A8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5C63"/>
                </a:solidFill>
                <a:latin typeface="Arial Black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76072"/>
            <a:ext cx="320040" cy="73152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202B"/>
                </a:solidFill>
                <a:latin typeface="Arial"/>
              </a:rPr>
              <a:t>ФОРМУЛА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FFFFFF"/>
                </a:solidFill>
                <a:latin typeface="Arial Black"/>
              </a:rPr>
              <a:t>Хороший промпт — это пять частей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2468880"/>
            <a:ext cx="2401214" cy="914400"/>
          </a:xfrm>
          <a:prstGeom prst="homePlate">
            <a:avLst>
              <a:gd name="adj" fmla="val 35000"/>
            </a:avLst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Роль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852574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3A3A8"/>
                </a:solidFill>
                <a:latin typeface="Arial"/>
              </a:rPr>
              <a:t>Кем быть: «ты администратор салона», «ты юрист по договорам».</a:t>
            </a:r>
          </a:p>
        </p:txBody>
      </p:sp>
      <p:sp>
        <p:nvSpPr>
          <p:cNvPr id="7" name="Chevron 6"/>
          <p:cNvSpPr/>
          <p:nvPr/>
        </p:nvSpPr>
        <p:spPr>
          <a:xfrm>
            <a:off x="2721254" y="2468880"/>
            <a:ext cx="2401214" cy="914400"/>
          </a:xfrm>
          <a:prstGeom prst="chevron">
            <a:avLst>
              <a:gd name="adj" fmla="val 35000"/>
            </a:avLst>
          </a:prstGeom>
          <a:solidFill>
            <a:srgbClr val="5A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Контекст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4134" y="3657600"/>
            <a:ext cx="1852574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3A3A8"/>
                </a:solidFill>
                <a:latin typeface="Arial"/>
              </a:rPr>
              <a:t>Ваш бизнес, клиенты, исходные данные, примеры.</a:t>
            </a:r>
          </a:p>
        </p:txBody>
      </p:sp>
      <p:sp>
        <p:nvSpPr>
          <p:cNvPr id="9" name="Chevron 8"/>
          <p:cNvSpPr/>
          <p:nvPr/>
        </p:nvSpPr>
        <p:spPr>
          <a:xfrm>
            <a:off x="4893868" y="2468880"/>
            <a:ext cx="2401214" cy="914400"/>
          </a:xfrm>
          <a:prstGeom prst="chevron">
            <a:avLst>
              <a:gd name="adj" fmla="val 35000"/>
            </a:avLst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Задача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6748" y="3657600"/>
            <a:ext cx="1852574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3A3A8"/>
                </a:solidFill>
                <a:latin typeface="Arial"/>
              </a:rPr>
              <a:t>Одно конкретное действие: написать, сравнить, сократить.</a:t>
            </a:r>
          </a:p>
        </p:txBody>
      </p:sp>
      <p:sp>
        <p:nvSpPr>
          <p:cNvPr id="11" name="Chevron 10"/>
          <p:cNvSpPr/>
          <p:nvPr/>
        </p:nvSpPr>
        <p:spPr>
          <a:xfrm>
            <a:off x="7066483" y="2468880"/>
            <a:ext cx="2401214" cy="914400"/>
          </a:xfrm>
          <a:prstGeom prst="chevron">
            <a:avLst>
              <a:gd name="adj" fmla="val 35000"/>
            </a:avLst>
          </a:prstGeom>
          <a:solidFill>
            <a:srgbClr val="5A0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Формат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9363" y="3657600"/>
            <a:ext cx="1852574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3A3A8"/>
                </a:solidFill>
                <a:latin typeface="Arial"/>
              </a:rPr>
              <a:t>Таблица, список, объём в знаках, количество вариантов.</a:t>
            </a:r>
          </a:p>
        </p:txBody>
      </p:sp>
      <p:sp>
        <p:nvSpPr>
          <p:cNvPr id="13" name="Chevron 12"/>
          <p:cNvSpPr/>
          <p:nvPr/>
        </p:nvSpPr>
        <p:spPr>
          <a:xfrm>
            <a:off x="9239097" y="2468880"/>
            <a:ext cx="2401214" cy="914400"/>
          </a:xfrm>
          <a:prstGeom prst="chevron">
            <a:avLst>
              <a:gd name="adj" fmla="val 35000"/>
            </a:avLst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Запреты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21977" y="3657600"/>
            <a:ext cx="1852574" cy="1737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3A3A8"/>
                </a:solidFill>
                <a:latin typeface="Arial"/>
              </a:rPr>
              <a:t>Чего не делать: штампы, выдуманные факты, канцелярит.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57800"/>
            <a:ext cx="11091672" cy="86868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48640" y="5257800"/>
            <a:ext cx="64008" cy="868680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1060704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Arial"/>
              </a:rPr>
              <a:t>Не получилось с первого раза — не начинайте заново. Напишите, что исправить: «короче», «теплее», «без списков».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3A8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5C63"/>
                </a:solidFill>
                <a:latin typeface="Arial Black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76072"/>
            <a:ext cx="320040" cy="73152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202B"/>
                </a:solidFill>
                <a:latin typeface="Arial"/>
              </a:rPr>
              <a:t>ОСТОРОЖНО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600" b="0">
                <a:solidFill>
                  <a:srgbClr val="FFFFFF"/>
                </a:solidFill>
                <a:latin typeface="Arial Black"/>
              </a:rPr>
              <a:t>Чего нейросети лучше не отдавать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5394960" cy="182880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59" y="2377439"/>
            <a:ext cx="548640" cy="548640"/>
          </a:xfrm>
          <a:prstGeom prst="ellipse">
            <a:avLst/>
          </a:prstGeom>
          <a:noFill/>
          <a:ln w="19050">
            <a:solidFill>
              <a:srgbClr val="E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3202B"/>
                </a:solidFill>
                <a:latin typeface="Arial Black"/>
              </a:rP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377439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Персональные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017520"/>
            <a:ext cx="4114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A3A8"/>
                </a:solidFill>
                <a:latin typeface="Arial"/>
              </a:rPr>
              <a:t>Паспорта, телефоны и адреса клиентов не вставляйте в публичные сервисы.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6207" y="2103120"/>
            <a:ext cx="5394960" cy="182880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6510527" y="2377439"/>
            <a:ext cx="548640" cy="548640"/>
          </a:xfrm>
          <a:prstGeom prst="ellipse">
            <a:avLst/>
          </a:prstGeom>
          <a:noFill/>
          <a:ln w="19050">
            <a:solidFill>
              <a:srgbClr val="E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3202B"/>
                </a:solidFill>
                <a:latin typeface="Arial Black"/>
              </a:rPr>
              <a:t>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7" y="2377439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Юридические решения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87767" y="3017520"/>
            <a:ext cx="4114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A3A8"/>
                </a:solidFill>
                <a:latin typeface="Arial"/>
              </a:rPr>
              <a:t>Договор от нейросети — черновик. Подписывать после проверки юристом.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5394960" cy="182880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22959" y="4434840"/>
            <a:ext cx="548640" cy="548640"/>
          </a:xfrm>
          <a:prstGeom prst="ellipse">
            <a:avLst/>
          </a:prstGeom>
          <a:noFill/>
          <a:ln w="19050">
            <a:solidFill>
              <a:srgbClr val="E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3202B"/>
                </a:solidFill>
                <a:latin typeface="Arial Black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4348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Цифры без проверки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074920"/>
            <a:ext cx="4114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A3A8"/>
                </a:solidFill>
                <a:latin typeface="Arial"/>
              </a:rPr>
              <a:t>Итоговые суммы, налоги и проценты пересчитайте сами.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7" y="4160520"/>
            <a:ext cx="5394960" cy="1828800"/>
          </a:xfrm>
          <a:prstGeom prst="rect">
            <a:avLst/>
          </a:prstGeom>
          <a:solidFill>
            <a:srgbClr val="1717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510527" y="4434840"/>
            <a:ext cx="548640" cy="548640"/>
          </a:xfrm>
          <a:prstGeom prst="ellipse">
            <a:avLst/>
          </a:prstGeom>
          <a:noFill/>
          <a:ln w="19050">
            <a:solidFill>
              <a:srgbClr val="E32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3202B"/>
                </a:solidFill>
                <a:latin typeface="Arial Black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7" y="4434840"/>
            <a:ext cx="41148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FFFF"/>
                </a:solidFill>
                <a:latin typeface="Arial Black"/>
              </a:rPr>
              <a:t>Ответы без просмотра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767" y="5074920"/>
            <a:ext cx="4114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A3A8"/>
                </a:solidFill>
                <a:latin typeface="Arial"/>
              </a:rPr>
              <a:t>Не включайте автоответы клиентам, пока не проверили десятки примеров.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3A8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5C63"/>
                </a:solidFill>
                <a:latin typeface="Arial Black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48640" y="713231"/>
            <a:ext cx="320040" cy="73152"/>
          </a:xfrm>
          <a:prstGeom prst="rect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640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3202B"/>
                </a:solidFill>
                <a:latin typeface="Arial"/>
              </a:rPr>
              <a:t>ЧТО ДАЛЬШЕ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0">
                <a:solidFill>
                  <a:srgbClr val="FFFFFF"/>
                </a:solidFill>
                <a:latin typeface="Arial Black"/>
              </a:rPr>
              <a:t>Начните с одной задачи</a:t>
            </a:r>
          </a:p>
          <a:p>
            <a:pPr algn="l">
              <a:lnSpc>
                <a:spcPct val="100000"/>
              </a:lnSpc>
            </a:pPr>
            <a:r>
              <a:rPr sz="4000" b="0">
                <a:solidFill>
                  <a:srgbClr val="FFFFFF"/>
                </a:solidFill>
                <a:latin typeface="Arial Black"/>
              </a:rPr>
              <a:t>на этой неделе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1460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al"/>
              </a:rPr>
              <a:t>Выберите задачу, которая каждую неделю съедает больше всего времени.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32461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al"/>
              </a:rPr>
              <a:t>Напишите промпт по формуле: роль, контекст, задача, формат, запреты.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977639"/>
            <a:ext cx="502920" cy="502920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97763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al"/>
              </a:rPr>
              <a:t>Сравните результат со своей обычной версией и доработайте промпт.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709159"/>
            <a:ext cx="502920" cy="502920"/>
          </a:xfrm>
          <a:prstGeom prst="ellipse">
            <a:avLst/>
          </a:prstGeom>
          <a:solidFill>
            <a:srgbClr val="E3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709159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Arial"/>
              </a:rPr>
              <a:t>Сохраните удачный промпт как шаблон и передайте команде.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A3A3A8"/>
                </a:solidFill>
                <a:latin typeface="Arial"/>
              </a:rPr>
              <a:t>Шаблоны промптов из этой презентации подходят для любой ниши, достаточно поменять вводные.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3A3A8"/>
                </a:solidFill>
                <a:latin typeface="Arial"/>
              </a:rPr>
              <a:t>Концепт для портфолио, бренд и данные вымышлены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5C63"/>
                </a:solidFill>
                <a:latin typeface="Arial Black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 задач малого бизнеса, которые можно отдать нейросети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